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0881360" cy="914400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Budget Distributed SVM in Federated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627632"/>
            <a:ext cx="10424160" cy="475488"/>
          </a:xfrm>
          <a:prstGeom prst="roundRect">
            <a:avLst/>
          </a:prstGeom>
          <a:solidFill>
            <a:srgbClr val="E1EEFF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900" b="1">
                <a:solidFill>
                  <a:srgbClr val="142646"/>
                </a:solidFill>
              </a:defRPr>
            </a:pPr>
            <a:r>
              <a:t>Reading notes for ACM TIST paper + DSVM POM1 source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337560" cy="1417320"/>
          </a:xfrm>
          <a:prstGeom prst="roundRect">
            <a:avLst/>
          </a:prstGeom>
          <a:solidFill>
            <a:srgbClr val="E0F7F7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600" b="0">
                <a:solidFill>
                  <a:srgbClr val="20232A"/>
                </a:solidFill>
              </a:defRPr>
            </a:pPr>
            <a:r>
              <a:t>Goal</a:t>
            </a:r>
            <a:br/>
            <a:r>
              <a:t>Explain the FL framework, master–worker implementation, and algorithm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743200"/>
            <a:ext cx="3337560" cy="1417320"/>
          </a:xfrm>
          <a:prstGeom prst="roundRect">
            <a:avLst/>
          </a:prstGeom>
          <a:solidFill>
            <a:srgbClr val="FFEFDF"/>
          </a:solidFill>
          <a:ln>
            <a:solidFill>
              <a:srgbClr val="E8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600" b="0">
                <a:solidFill>
                  <a:srgbClr val="20232A"/>
                </a:solidFill>
              </a:defRPr>
            </a:pPr>
            <a:r>
              <a:t>Key question</a:t>
            </a:r>
            <a:br/>
            <a:r>
              <a:t>Where is the “dual SVM” part? Is this primal, dual, or primal–dual?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743200"/>
            <a:ext cx="3337560" cy="1417320"/>
          </a:xfrm>
          <a:prstGeom prst="roundRect">
            <a:avLst/>
          </a:prstGeom>
          <a:solidFill>
            <a:srgbClr val="E1EEFF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600" b="0">
                <a:solidFill>
                  <a:srgbClr val="20232A"/>
                </a:solidFill>
              </a:defRPr>
            </a:pPr>
            <a:r>
              <a:t>My current interpretation</a:t>
            </a:r>
            <a:br/>
            <a:r>
              <a:t>The code is a budget/kernel SVM trained through distributed IRWLS-style updates, not a classical sample-dual alpha-SVM.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983480"/>
            <a:ext cx="10241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800" b="1">
                <a:solidFill>
                  <a:srgbClr val="142646"/>
                </a:solidFill>
              </a:defRPr>
            </a:pPr>
            <a:r>
              <a:t>Prepared for professor / Shrikar validation: uncertain points are explicitly marked.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BDSVM / Federated Learning reading notes | slide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9282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46"/>
                </a:solidFill>
              </a:defRPr>
            </a:pPr>
            <a:r>
              <a:t>1. Paper idea in my own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373"/>
                </a:solidFill>
              </a:defRPr>
            </a:pPr>
            <a:r>
              <a:t>Budget Distributed Support Vector Machine for non-identically distributed federated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Problem: in FL, each worker owns private local data, and the data distribution may be non-IID / non-ID.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Standard FedAvg can suffer because local updates drift in different directions before averaging.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Nonlinear SVMs are hard to federate directly because support vectors are training samples; sharing them can leak data.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BDSVM fixes the model size by using a budget of common centroids, then learns global weights over those centroids.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34440"/>
            <a:ext cx="2011680" cy="685800"/>
          </a:xfrm>
          <a:prstGeom prst="roundRect">
            <a:avLst/>
          </a:prstGeom>
          <a:solidFill>
            <a:srgbClr val="FFEFDF"/>
          </a:solidFill>
          <a:ln>
            <a:solidFill>
              <a:srgbClr val="E8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600" b="1">
                <a:solidFill>
                  <a:srgbClr val="20232A"/>
                </a:solidFill>
              </a:defRPr>
            </a:pPr>
            <a:r>
              <a:t>Worker data</a:t>
            </a:r>
            <a:br/>
            <a:r>
              <a:t>private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234440"/>
            <a:ext cx="2011680" cy="685800"/>
          </a:xfrm>
          <a:prstGeom prst="roundRect">
            <a:avLst/>
          </a:prstGeom>
          <a:solidFill>
            <a:srgbClr val="E1EEFF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600" b="1">
                <a:solidFill>
                  <a:srgbClr val="20232A"/>
                </a:solidFill>
              </a:defRPr>
            </a:pPr>
            <a:r>
              <a:t>Global model</a:t>
            </a:r>
            <a:br/>
            <a:r>
              <a:t>shared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0" y="1572768"/>
            <a:ext cx="731520" cy="0"/>
          </a:xfrm>
          <a:prstGeom prst="line">
            <a:avLst/>
          </a:prstGeom>
          <a:ln w="25400">
            <a:solidFill>
              <a:srgbClr val="5A6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0" y="2423160"/>
            <a:ext cx="475488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5A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600" b="0">
                <a:solidFill>
                  <a:srgbClr val="20232A"/>
                </a:solidFill>
              </a:defRPr>
            </a:pPr>
            <a:r>
              <a:t>Instead of sending raw data or support vectors, workers send computed matrices/vectors based on the common kernel basis.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84048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5A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600" b="0">
                <a:solidFill>
                  <a:srgbClr val="20232A"/>
                </a:solidFill>
              </a:defRPr>
            </a:pPr>
            <a:r>
              <a:t>Expected benefit: maintain privacy and reduce communication while still using an SVM-like nonlinear decision boundary.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5257800"/>
            <a:ext cx="4754880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000" b="0">
                <a:solidFill>
                  <a:srgbClr val="5A6373"/>
                </a:solidFill>
              </a:defRPr>
            </a:pPr>
            <a:r>
              <a:t>Source: ACM paper abstract / metadata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BDSVM / Federated Learning reading notes | slide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9282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46"/>
                </a:solidFill>
              </a:defRPr>
            </a:pPr>
            <a:r>
              <a:t>2. How the FL framework is set in the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373"/>
                </a:solidFill>
              </a:defRPr>
            </a:pPr>
            <a:r>
              <a:t>Mapping paper concepts to the pasted DSVM POM1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325880"/>
            <a:ext cx="2971800" cy="914400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Master</a:t>
            </a:r>
            <a:br/>
            <a:r>
              <a:t>DSVM_Master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51760"/>
            <a:ext cx="2971800" cy="914400"/>
          </a:xfrm>
          <a:prstGeom prst="roundRect">
            <a:avLst/>
          </a:prstGeom>
          <a:solidFill>
            <a:srgbClr val="E0F7F7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800" b="1">
                <a:solidFill>
                  <a:srgbClr val="20232A"/>
                </a:solidFill>
              </a:defRPr>
            </a:pPr>
            <a:r>
              <a:t>Worker 1</a:t>
            </a:r>
            <a:br/>
            <a:r>
              <a:t>DSVM_Worker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3886200"/>
            <a:ext cx="2971800" cy="914400"/>
          </a:xfrm>
          <a:prstGeom prst="roundRect">
            <a:avLst/>
          </a:prstGeom>
          <a:solidFill>
            <a:srgbClr val="FFEFDF"/>
          </a:solidFill>
          <a:ln>
            <a:solidFill>
              <a:srgbClr val="E8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800" b="1">
                <a:solidFill>
                  <a:srgbClr val="20232A"/>
                </a:solidFill>
              </a:defRPr>
            </a:pPr>
            <a:r>
              <a:t>Worker 2</a:t>
            </a:r>
            <a:br/>
            <a:r>
              <a:t>DSVM_Worker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651760"/>
            <a:ext cx="2971800" cy="914400"/>
          </a:xfrm>
          <a:prstGeom prst="roundRect">
            <a:avLst/>
          </a:prstGeom>
          <a:solidFill>
            <a:srgbClr val="E0F7F7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800" b="1">
                <a:solidFill>
                  <a:srgbClr val="20232A"/>
                </a:solidFill>
              </a:defRPr>
            </a:pPr>
            <a:r>
              <a:t>Worker m</a:t>
            </a:r>
            <a:br/>
            <a:r>
              <a:t>DSVM_Worker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377440" y="2240280"/>
            <a:ext cx="3108960" cy="411480"/>
          </a:xfrm>
          <a:prstGeom prst="line">
            <a:avLst/>
          </a:prstGeom>
          <a:ln w="2540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26480" y="2240280"/>
            <a:ext cx="0" cy="1645920"/>
          </a:xfrm>
          <a:prstGeom prst="line">
            <a:avLst/>
          </a:prstGeom>
          <a:ln w="2540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2240280"/>
            <a:ext cx="3108960" cy="411480"/>
          </a:xfrm>
          <a:prstGeom prst="line">
            <a:avLst/>
          </a:prstGeom>
          <a:ln w="25400">
            <a:solidFill>
              <a:srgbClr val="2C7B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377440" y="2240280"/>
            <a:ext cx="3108960" cy="1325880"/>
          </a:xfrm>
          <a:prstGeom prst="line">
            <a:avLst/>
          </a:prstGeom>
          <a:ln w="25400">
            <a:solidFill>
              <a:srgbClr val="E8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126480" y="2240280"/>
            <a:ext cx="0" cy="1645920"/>
          </a:xfrm>
          <a:prstGeom prst="line">
            <a:avLst/>
          </a:prstGeom>
          <a:ln w="25400">
            <a:solidFill>
              <a:srgbClr val="E8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6858000" y="2240280"/>
            <a:ext cx="3108960" cy="1325880"/>
          </a:xfrm>
          <a:prstGeom prst="line">
            <a:avLst/>
          </a:prstGeom>
          <a:ln w="25400">
            <a:solidFill>
              <a:srgbClr val="E88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5074920"/>
            <a:ext cx="3474720" cy="658368"/>
          </a:xfrm>
          <a:prstGeom prst="roundRect">
            <a:avLst/>
          </a:prstGeom>
          <a:solidFill>
            <a:srgbClr val="E1EEFF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0">
                <a:solidFill>
                  <a:srgbClr val="20232A"/>
                </a:solidFill>
              </a:defRPr>
            </a:pPr>
            <a:r>
              <a:t>Broadcast: sigma, C, seed, centroids, weights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5074920"/>
            <a:ext cx="3474720" cy="658368"/>
          </a:xfrm>
          <a:prstGeom prst="roundRect">
            <a:avLst/>
          </a:prstGeom>
          <a:solidFill>
            <a:srgbClr val="FFEFDF"/>
          </a:solidFill>
          <a:ln>
            <a:solidFill>
              <a:srgbClr val="E8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0">
                <a:solidFill>
                  <a:srgbClr val="20232A"/>
                </a:solidFill>
              </a:defRPr>
            </a:pPr>
            <a:r>
              <a:t>Local computation: KXC, Cx, rx, QR or triangular 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5074920"/>
            <a:ext cx="3246120" cy="658368"/>
          </a:xfrm>
          <a:prstGeom prst="roundRect">
            <a:avLst/>
          </a:prstGeom>
          <a:solidFill>
            <a:srgbClr val="E0F7F7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0">
                <a:solidFill>
                  <a:srgbClr val="20232A"/>
                </a:solidFill>
              </a:defRPr>
            </a:pPr>
            <a:r>
              <a:t>Aggregation: sum local matrices, update global weights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100" b="0">
                <a:solidFill>
                  <a:srgbClr val="5A6373"/>
                </a:solidFill>
              </a:defRPr>
            </a:pPr>
            <a:r>
              <a:t>Code anchors: DSVM_Master initializes and broadcasts parameters; DSVM_Worker keeps Xtr_b/ytr locally and returns only derived quantities.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BDSVM / Federated Learning reading notes | slide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9282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46"/>
                </a:solidFill>
              </a:defRPr>
            </a:pPr>
            <a:r>
              <a:t>3. Master–slave architecture: actual training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373"/>
                </a:solidFill>
              </a:defRPr>
            </a:pPr>
            <a:r>
              <a:t>This is synchronous central aggregation, not decentralized gossip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2148840" cy="530352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START_TRAIN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143000"/>
            <a:ext cx="8046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42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0">
                <a:solidFill>
                  <a:srgbClr val="20232A"/>
                </a:solidFill>
              </a:defRPr>
            </a:pPr>
            <a:r>
              <a:t>Master creates common random centroids and Kcc_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1673352"/>
            <a:ext cx="0" cy="338328"/>
          </a:xfrm>
          <a:prstGeom prst="line">
            <a:avLst/>
          </a:prstGeom>
          <a:ln w="25400">
            <a:solidFill>
              <a:srgbClr val="5A6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011680"/>
            <a:ext cx="2148840" cy="530352"/>
          </a:xfrm>
          <a:prstGeom prst="roundRect">
            <a:avLst/>
          </a:prstGeom>
          <a:solidFill>
            <a:srgbClr val="2C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INITIALIZE_PARAMETERS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011680"/>
            <a:ext cx="8046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0">
                <a:solidFill>
                  <a:srgbClr val="20232A"/>
                </a:solidFill>
              </a:defRPr>
            </a:pPr>
            <a:r>
              <a:t>Master broadcasts sigma, C, seed, eps, centroid settings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2542032"/>
            <a:ext cx="0" cy="338328"/>
          </a:xfrm>
          <a:prstGeom prst="line">
            <a:avLst/>
          </a:prstGeom>
          <a:ln w="25400">
            <a:solidFill>
              <a:srgbClr val="5A6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880360"/>
            <a:ext cx="2148840" cy="530352"/>
          </a:xfrm>
          <a:prstGeom prst="roundRect">
            <a:avLst/>
          </a:prstGeom>
          <a:solidFill>
            <a:srgbClr val="E8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LOCAL_TRAIN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2880360"/>
            <a:ext cx="8046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8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0">
                <a:solidFill>
                  <a:srgbClr val="20232A"/>
                </a:solidFill>
              </a:defRPr>
            </a:pPr>
            <a:r>
              <a:t>Workers compute local Cx and rx using private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3410712"/>
            <a:ext cx="0" cy="338327"/>
          </a:xfrm>
          <a:prstGeom prst="line">
            <a:avLst/>
          </a:prstGeom>
          <a:ln w="25400">
            <a:solidFill>
              <a:srgbClr val="5A6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3749039"/>
            <a:ext cx="2148840" cy="530352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UPDATE_MODEL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749039"/>
            <a:ext cx="8046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0">
                <a:solidFill>
                  <a:srgbClr val="20232A"/>
                </a:solidFill>
              </a:defRPr>
            </a:pPr>
            <a:r>
              <a:t>Master sums workers' matrices and solves new global weights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28800" y="4279392"/>
            <a:ext cx="0" cy="338328"/>
          </a:xfrm>
          <a:prstGeom prst="line">
            <a:avLst/>
          </a:prstGeom>
          <a:ln w="25400">
            <a:solidFill>
              <a:srgbClr val="5A63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4617720"/>
            <a:ext cx="2148840" cy="530352"/>
          </a:xfrm>
          <a:prstGeom prst="roundRect">
            <a:avLst/>
          </a:prstGeom>
          <a:solidFill>
            <a:srgbClr val="5A6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CHECK_TERMINATION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4617720"/>
            <a:ext cx="804672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5A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0">
                <a:solidFill>
                  <a:srgbClr val="20232A"/>
                </a:solidFill>
              </a:defRPr>
            </a:pPr>
            <a:r>
              <a:t>Stop if max iteration or weight-change tolerance reached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715000"/>
            <a:ext cx="10287000" cy="502920"/>
          </a:xfrm>
          <a:prstGeom prst="roundRect">
            <a:avLst/>
          </a:prstGeom>
          <a:solidFill>
            <a:srgbClr val="E1EEFF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600" b="1">
                <a:solidFill>
                  <a:srgbClr val="142646"/>
                </a:solidFill>
              </a:defRPr>
            </a:pPr>
            <a:r>
              <a:t>Why “slave”? In this code, workers do not communicate with each other; they only respond to commands from the master.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BDSVM / Federated Learning reading notes | slide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9282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46"/>
                </a:solidFill>
              </a:defRPr>
            </a:pPr>
            <a:r>
              <a:t>4. Where is the dual part?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373"/>
                </a:solidFill>
              </a:defRPr>
            </a:pPr>
            <a:r>
              <a:t>My current answer: not a classical explicit dual-SVM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3383280" cy="1005840"/>
          </a:xfrm>
          <a:prstGeom prst="roundRect">
            <a:avLst/>
          </a:prstGeom>
          <a:solidFill>
            <a:srgbClr val="E1EEFF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500" b="0">
                <a:solidFill>
                  <a:srgbClr val="20232A"/>
                </a:solidFill>
              </a:defRPr>
            </a:pPr>
            <a:r>
              <a:t>Classical primal SVM</a:t>
            </a:r>
            <a:br/>
            <a:r>
              <a:t>Optimize w, b, ξ directly</a:t>
            </a:r>
            <a:br/>
            <a:r>
              <a:t>min 1/2||w||² + CΣξ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143000"/>
            <a:ext cx="3383280" cy="1005840"/>
          </a:xfrm>
          <a:prstGeom prst="roundRect">
            <a:avLst/>
          </a:prstGeom>
          <a:solidFill>
            <a:srgbClr val="FFEFDF"/>
          </a:solidFill>
          <a:ln>
            <a:solidFill>
              <a:srgbClr val="E88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500" b="0">
                <a:solidFill>
                  <a:srgbClr val="20232A"/>
                </a:solidFill>
              </a:defRPr>
            </a:pPr>
            <a:r>
              <a:t>Classical dual SVM</a:t>
            </a:r>
            <a:br/>
            <a:r>
              <a:t>Optimize alpha_i for each sample</a:t>
            </a:r>
            <a:br/>
            <a:r>
              <a:t>K(sample i, sample j) appears directly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143000"/>
            <a:ext cx="3383280" cy="1005840"/>
          </a:xfrm>
          <a:prstGeom prst="roundRect">
            <a:avLst/>
          </a:prstGeom>
          <a:solidFill>
            <a:srgbClr val="E0F7F7"/>
          </a:solidFill>
          <a:ln>
            <a:solidFill>
              <a:srgbClr val="009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500" b="1">
                <a:solidFill>
                  <a:srgbClr val="20232A"/>
                </a:solidFill>
              </a:defRPr>
            </a:pPr>
            <a:r>
              <a:t>This code</a:t>
            </a:r>
            <a:br/>
            <a:r>
              <a:t>Optimizes weights beta over budget centroids</a:t>
            </a:r>
            <a:br/>
            <a:r>
              <a:t>No explicit alpha_i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32A"/>
                </a:solidFill>
              </a:defRPr>
            </a:pPr>
            <a:r>
              <a:t>• The model prediction is f(x)=beta0 + Sum_j beta_j K(x, c_j), where c_j are fixed/random centroids.</a:t>
            </a:r>
          </a:p>
          <a:p>
            <a:pPr>
              <a:spcAft>
                <a:spcPts val="800"/>
              </a:spcAft>
              <a:defRPr sz="1500">
                <a:solidFill>
                  <a:srgbClr val="20232A"/>
                </a:solidFill>
              </a:defRPr>
            </a:pPr>
            <a:r>
              <a:t>• Workers compute KXC once, then compute local weighted normal-equation terms Cx and rx.</a:t>
            </a:r>
          </a:p>
          <a:p>
            <a:pPr>
              <a:spcAft>
                <a:spcPts val="800"/>
              </a:spcAft>
              <a:defRPr sz="1500">
                <a:solidFill>
                  <a:srgbClr val="20232A"/>
                </a:solidFill>
              </a:defRPr>
            </a:pPr>
            <a:r>
              <a:t>• The master solves beta_new = (Sum Cx + Kcc + eps I)^(-1)(Sum rx).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4983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32A"/>
                </a:solidFill>
              </a:defRPr>
            </a:pPr>
            <a:r>
              <a:t>• Dual flavor: it is kernelized and uses a representer-like expansion over basis points.</a:t>
            </a:r>
          </a:p>
          <a:p>
            <a:pPr>
              <a:spcAft>
                <a:spcPts val="800"/>
              </a:spcAft>
              <a:defRPr sz="1500">
                <a:solidFill>
                  <a:srgbClr val="20232A"/>
                </a:solidFill>
              </a:defRPr>
            </a:pPr>
            <a:r>
              <a:t>• Not classical dual: coefficients are tied to centroids, not to every training sample.</a:t>
            </a:r>
          </a:p>
          <a:p>
            <a:pPr>
              <a:spcAft>
                <a:spcPts val="800"/>
              </a:spcAft>
              <a:defRPr sz="1500">
                <a:solidFill>
                  <a:srgbClr val="20232A"/>
                </a:solidFill>
              </a:defRPr>
            </a:pPr>
            <a:r>
              <a:t>• The local variable a is an IRWLS/margin weight, not the usual SVM Lagrange multiplier alpha.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596128"/>
            <a:ext cx="10332720" cy="658368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Suggested wording: “The implementation is closer to a primal/semiparametric budget-kernel SVM trained by IRWLS; I need to confirm whether the paper calls this dual because of the kernel expansion or because of its derivation.”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BDSVM / Federated Learning reading notes | slide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9282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46"/>
                </a:solidFill>
              </a:defRPr>
            </a:pPr>
            <a:r>
              <a:t>5. Worker-side local update: what is sent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373"/>
                </a:solidFill>
              </a:defRPr>
            </a:pPr>
            <a:r>
              <a:t>Private data stays local; derived matrix/vector information is returned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4983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5A6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500" b="0">
                <a:solidFill>
                  <a:srgbClr val="20232A"/>
                </a:solidFill>
              </a:defRPr>
            </a:pPr>
            <a:r>
              <a:rPr sz="1400">
                <a:latin typeface="Consolas"/>
              </a:rPr>
              <a:t>o  = KXC @ weights</a:t>
            </a:r>
            <a:br/>
            <a:r>
              <a:rPr sz="1400">
                <a:latin typeface="Consolas"/>
              </a:rPr>
              <a:t>err = y - o</a:t>
            </a:r>
            <a:br/>
            <a:r>
              <a:rPr sz="1400">
                <a:latin typeface="Consolas"/>
              </a:rPr>
              <a:t>ey = err * y</a:t>
            </a:r>
            <a:br/>
            <a:br/>
            <a:r>
              <a:rPr sz="1400">
                <a:latin typeface="Consolas"/>
              </a:rPr>
              <a:t># IRWLS-style local weights</a:t>
            </a:r>
            <a:br/>
            <a:r>
              <a:rPr sz="1400">
                <a:latin typeface="Consolas"/>
              </a:rPr>
              <a:t>a = 2*C/eps</a:t>
            </a:r>
            <a:br/>
            <a:r>
              <a:rPr sz="1400">
                <a:latin typeface="Consolas"/>
              </a:rPr>
              <a:t>if ey &lt; 0:    a = 0</a:t>
            </a:r>
            <a:br/>
            <a:r>
              <a:rPr sz="1400">
                <a:latin typeface="Consolas"/>
              </a:rPr>
              <a:t>if ey &gt;= eps: a = 2*C/ey</a:t>
            </a:r>
            <a:br/>
            <a:br/>
            <a:r>
              <a:rPr sz="1400">
                <a:latin typeface="Consolas"/>
              </a:rPr>
              <a:t>Cx = KXC.T @ (KXC * a)</a:t>
            </a:r>
            <a:br/>
            <a:r>
              <a:rPr sz="1400">
                <a:latin typeface="Consolas"/>
              </a:rPr>
              <a:t>rx = KXC.T @ (y * 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280160"/>
            <a:ext cx="5166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KXC is the local kernel matrix from private local samples to the shared centroids.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Cx behaves like a local curvature / information matrix.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rx behaves like a local right-hand-side vector.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Worker sends either QR decomposition or upper-triangular packed Cx to reduce communication.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846320"/>
            <a:ext cx="4800600" cy="749808"/>
          </a:xfrm>
          <a:prstGeom prst="roundRect">
            <a:avLst/>
          </a:prstGeom>
          <a:solidFill>
            <a:srgbClr val="E8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Important: this is why I should avoid saying workers send gradients only. They send structured matrix/vector updates.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BDSVM / Federated Learning reading notes | slide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9282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46"/>
                </a:solidFill>
              </a:defRPr>
            </a:pPr>
            <a:r>
              <a:t>6. Parallel implementation vs. Gossip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373"/>
                </a:solidFill>
              </a:defRPr>
            </a:pPr>
            <a:r>
              <a:t>Centralized aggregation vs. peer-to-peer propagation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074920" cy="594360"/>
          </a:xfrm>
          <a:prstGeom prst="roundRect">
            <a:avLst/>
          </a:prstGeom>
          <a:solidFill>
            <a:srgbClr val="2C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Parallel / Master–Worker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43000"/>
            <a:ext cx="5074920" cy="594360"/>
          </a:xfrm>
          <a:prstGeom prst="roundRect">
            <a:avLst/>
          </a:prstGeom>
          <a:solidFill>
            <a:srgbClr val="00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Gossip / Decentralized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09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One aggregator controls the round.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Workers compute local quantities at the same stage.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Master combines all received updates into one global model.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Matches this pasted DSVM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709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No single permanent aggregator is required.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Nodes exchange models or support information with neighbors.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Information spreads through the network over multiple communications.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Useful when central server is unavailable, but convergence/coordination is harder.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394960"/>
            <a:ext cx="10378440" cy="566928"/>
          </a:xfrm>
          <a:prstGeom prst="roundRect">
            <a:avLst/>
          </a:prstGeom>
          <a:solidFill>
            <a:srgbClr val="E1EEFF"/>
          </a:solidFill>
          <a:ln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600" b="1">
                <a:solidFill>
                  <a:srgbClr val="142646"/>
                </a:solidFill>
              </a:defRPr>
            </a:pPr>
            <a:r>
              <a:t>For my code: because every worker sends to `master_address` and the master broadcasts to all workers, it is parallel/master–worker, not gossip.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BDSVM / Federated Learning reading notes | slide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9282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46"/>
                </a:solidFill>
              </a:defRPr>
            </a:pPr>
            <a:r>
              <a:t>7. Synchronous vs. asynchronous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373"/>
                </a:solidFill>
              </a:defRPr>
            </a:pPr>
            <a:r>
              <a:t>Timing of aggregation is different from the network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074920" cy="594360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Synchronous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43000"/>
            <a:ext cx="5074920" cy="594360"/>
          </a:xfrm>
          <a:prstGeom prst="roundRect">
            <a:avLst/>
          </a:prstGeom>
          <a:solidFill>
            <a:srgbClr val="E88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Asynchronous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091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Training proceeds in rounds.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Master waits until all required workers reach the expected state.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Global update uses a consistent set of local updates from the current round.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Slower if stragglers exist, but easier to reason about.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7091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Master can update whenever some worker updates arrive.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Workers may use stale versions of the global model.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Faster utilization under stragglers/dropouts, but convergence analysis is harder.</a:t>
            </a:r>
          </a:p>
          <a:p>
            <a:pPr>
              <a:spcAft>
                <a:spcPts val="800"/>
              </a:spcAft>
              <a:defRPr sz="1600">
                <a:solidFill>
                  <a:srgbClr val="20232A"/>
                </a:solidFill>
              </a:defRPr>
            </a:pPr>
            <a:r>
              <a:t>• Needs logic for stale updates and version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166360"/>
            <a:ext cx="10378440" cy="731520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This code looks synchronous: `checkAllStates(...)` moves the master state only after all workers acknowledge initialization or send `UPDATE_MODEL`.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BDSVM / Federated Learning reading notes | slide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9282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646"/>
                </a:solidFill>
              </a:defRPr>
            </a:pPr>
            <a:r>
              <a:t>8. Parts I still need to confirm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A6373"/>
                </a:solidFill>
              </a:defRPr>
            </a:pPr>
            <a:r>
              <a:t>Questions to ask professor / Shrikar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32A"/>
                </a:solidFill>
              </a:defRPr>
            </a:pPr>
            <a:r>
              <a:t>• Should I call this algorithm Dual SVM, Budget SVM, or semiparametric / primal-style kernel SVM?</a:t>
            </a:r>
          </a:p>
          <a:p>
            <a:pPr>
              <a:spcAft>
                <a:spcPts val="800"/>
              </a:spcAft>
              <a:defRPr sz="1700">
                <a:solidFill>
                  <a:srgbClr val="20232A"/>
                </a:solidFill>
              </a:defRPr>
            </a:pPr>
            <a:r>
              <a:t>• In the paper derivation, what is the exact relationship between beta, the usual SVM dual variables alpha, and the IRWLS local weight a?</a:t>
            </a:r>
          </a:p>
          <a:p>
            <a:pPr>
              <a:spcAft>
                <a:spcPts val="800"/>
              </a:spcAft>
              <a:defRPr sz="1700">
                <a:solidFill>
                  <a:srgbClr val="20232A"/>
                </a:solidFill>
              </a:defRPr>
            </a:pPr>
            <a:r>
              <a:t>• Does the regularization term Kcc_ in the master update correspond to ||w||² in feature space?</a:t>
            </a:r>
          </a:p>
          <a:p>
            <a:pPr>
              <a:spcAft>
                <a:spcPts val="800"/>
              </a:spcAft>
              <a:defRPr sz="1700">
                <a:solidFill>
                  <a:srgbClr val="20232A"/>
                </a:solidFill>
              </a:defRPr>
            </a:pPr>
            <a:r>
              <a:t>• Is the QR version only a communication optimization, or does it change numerical behavior too?</a:t>
            </a:r>
          </a:p>
          <a:p>
            <a:pPr>
              <a:spcAft>
                <a:spcPts val="800"/>
              </a:spcAft>
              <a:defRPr sz="1700">
                <a:solidFill>
                  <a:srgbClr val="20232A"/>
                </a:solidFill>
              </a:defRPr>
            </a:pPr>
            <a:r>
              <a:t>• For dropout/straggler experiments in the paper, is the practical code still synchronous, or is a partial-worker version used?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440680"/>
            <a:ext cx="10607040" cy="685800"/>
          </a:xfrm>
          <a:prstGeom prst="round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Proposed one-sentence summary: “This code implements a synchronous master–worker federated BDSVM where workers keep data local and send kernel-derived information matrices; the ‘dual’ aspect is not explicit alpha-optimization, so I will label it as a point requiring validation.”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6245352"/>
            <a:ext cx="106070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defRPr sz="850" b="0">
                <a:solidFill>
                  <a:srgbClr val="5A6373"/>
                </a:solidFill>
              </a:defRPr>
            </a:pPr>
            <a:r>
              <a:t>Sources used: ACM DOI 10.1145/3539734 metadata/abstract; pasted DSVM POM1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6592824"/>
            <a:ext cx="10515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FFFFFF"/>
                </a:solidFill>
              </a:defRPr>
            </a:pPr>
            <a:r>
              <a:t>BDSVM / Federated Learning reading notes | slide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92824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